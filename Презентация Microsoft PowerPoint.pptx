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60" r:id="rId5"/>
    <p:sldId id="353" r:id="rId6"/>
    <p:sldId id="352" r:id="rId7"/>
    <p:sldId id="354" r:id="rId8"/>
    <p:sldId id="357" r:id="rId9"/>
    <p:sldId id="358" r:id="rId10"/>
    <p:sldId id="35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25" d="100"/>
          <a:sy n="25" d="100"/>
        </p:scale>
        <p:origin x="1500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53D4B-FB8D-40B2-B3A8-F0864059CE95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37F3-FB35-4C55-8001-F5272FCD2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22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D893C-C4EB-491E-9580-49CD34D61E8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3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814B7-CCC9-4259-B697-18A9D902C72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00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50D3B-FF09-3900-4ADB-C6209CDE7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20F4E8-0372-D060-62A7-82A6C5D73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C144FB-7347-7E11-D7CE-86AD5108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AF9164-9318-6710-15CE-F2F6750A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9F7173-1C17-A453-4A31-0073695C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00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ABE6D-264F-57B3-58B8-872BF9E0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70BD4D-6F44-AF9E-C3D2-284F052C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CD2CB1-E82D-4D69-13A9-205F324D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760D6-FE9F-B243-784D-A2CFD51B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5BCC9-5B6E-8D6B-F4EE-A0E8CE8F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29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A9DD3-6AEC-9C8B-40BE-994BB8B3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6AEE9B-04E3-4B74-8FC7-ED78007F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20679E-68B6-095A-A83E-AED9A216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D3D424-4150-0D29-950F-76004581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ECC64A-57BB-6DE6-AE38-7DC9C31A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83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8FE4C-2EA1-B887-E27F-5B7A10A2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B333B-2B73-5E66-240D-6CC952D00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2010FC-BC41-2FF1-FA35-DA9C40565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6CFB7A-44F5-5567-C58E-D0FBDFCD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F72F58-FA06-E5FD-B0C9-6129EBB2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5E1432-3BD0-50EA-722E-467CB29A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23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5A347-9507-C313-59BA-7C170542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F507AB-8716-4887-D67F-AA6154C2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2F40B8-52E3-CADA-B766-2D5743C79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4668C5-65BC-3683-2BA3-B61AA1F08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AF40D99-8732-258A-58EA-228AFDA1D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73B583-A2C8-3DF1-BE70-E25E57EE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111C21-59D0-CFED-5B81-EC5090CA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772A8D-49B5-BEC4-50AD-50CABE6A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3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2868B-1C5C-2AB5-EFFB-0051D494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2A9B0E-8989-BE71-B422-94B79FD2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924FD0-A5D1-D811-7015-74B3C730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C2A1A3-A19F-EB96-A91D-D73E6475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24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32EFD9-B396-2AAA-44A2-A080F369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9964D4-EC6D-5644-5553-28225A24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8E8786-25B9-DA6E-9274-1F85E80C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7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037C3-47B0-F8EF-B954-DF2D0650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3F118-A029-329D-5947-8546B3777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33867A-B431-D5BC-E2DB-96082CD44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971F50-0368-7192-B440-5AAAE1A0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DBC43C-8E49-83CF-E4D8-C78D88DE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7E7F23-EB15-56AA-D544-C1A06483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66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09DF5-A5EE-BD8D-B8FD-5A1E74FC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68E501-05EC-8E41-8B6C-C7919F21E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9F85FF-B661-BA09-28F4-8657AC8F0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514A51-BF3C-817A-55B4-5F400DA5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59449-6960-D771-B89E-B6F1C485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36E5C0-A706-EE4D-9910-CBA31A30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836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4C831-065E-CB89-D5A5-0493A9CA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5DE959-7DCF-E0D5-57F5-2E4C8E9F7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2DCB9-EBFE-AE95-6635-32F2EF2B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599AA-F85E-2891-0E67-C4FFF8CF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C85039-9E1B-C863-4DBB-AABEE97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18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FC75F8-C3B3-5EC1-410D-C725F2652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A41A40-A44B-88E5-EC7E-263108548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2ED35E-C7B0-3FB5-5560-0CA9500D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4FEBF-F7A1-A2BD-509D-7AF9FB1F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A32275-C9C3-ACB7-7EFF-E279ECEB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17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9BF30-BA55-80B3-C569-6542541D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21474B-B6A7-ABC0-FB82-6737AE8FE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ADFBD2-8585-C090-FD19-CBFB2F3FB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6A04-8757-4D80-B398-2C7B7AC6E779}" type="datetimeFigureOut">
              <a:rPr lang="ru-RU" smtClean="0"/>
              <a:t>23.04.2025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3565B-5FEF-584B-E62F-5E1A7A8F0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D621E1-35B1-4B66-9D46-8915DF907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65CC9-9D49-4CA0-8B8E-9D147C71D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30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0.png"/><Relationship Id="rId4" Type="http://schemas.microsoft.com/office/2007/relationships/hdphoto" Target="../media/hdphoto3.wdp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DDFDD-5685-E230-3D35-BCDD19C0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636E72-8F23-7848-C558-0B808C96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E6C939-0607-9A54-AA9E-A1E01D1C17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652D5A-1493-ABC4-B929-0B3E3A629270}"/>
              </a:ext>
            </a:extLst>
          </p:cNvPr>
          <p:cNvSpPr txBox="1"/>
          <p:nvPr/>
        </p:nvSpPr>
        <p:spPr>
          <a:xfrm>
            <a:off x="-8712865" y="927208"/>
            <a:ext cx="435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Черноклинов Данила Александрович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7333F-954A-A7FE-F4C8-81B0B21B45D5}"/>
              </a:ext>
            </a:extLst>
          </p:cNvPr>
          <p:cNvSpPr txBox="1"/>
          <p:nvPr/>
        </p:nvSpPr>
        <p:spPr>
          <a:xfrm>
            <a:off x="-12715522" y="-184666"/>
            <a:ext cx="400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Константин </a:t>
            </a:r>
            <a:r>
              <a:rPr lang="ru-RU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Дембцкий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7B6C5-5F5A-0469-028B-62F13144E1A9}"/>
              </a:ext>
            </a:extLst>
          </p:cNvPr>
          <p:cNvSpPr txBox="1"/>
          <p:nvPr/>
        </p:nvSpPr>
        <p:spPr>
          <a:xfrm>
            <a:off x="-11433149" y="365125"/>
            <a:ext cx="35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Усенко Алексей Фёдорович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62A50-11DF-1BC9-BCFC-36997674B3AB}"/>
              </a:ext>
            </a:extLst>
          </p:cNvPr>
          <p:cNvSpPr txBox="1"/>
          <p:nvPr/>
        </p:nvSpPr>
        <p:spPr>
          <a:xfrm>
            <a:off x="21183600" y="4593810"/>
            <a:ext cx="5001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Сайт+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TG-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Бот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“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Поиск потерявшихся домашних животных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”</a:t>
            </a:r>
            <a:endParaRPr lang="ru-RU" sz="32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Прямоугольник: усеченные противолежащие углы 8">
            <a:extLst>
              <a:ext uri="{FF2B5EF4-FFF2-40B4-BE49-F238E27FC236}">
                <a16:creationId xmlns:a16="http://schemas.microsoft.com/office/drawing/2014/main" id="{CB8A4264-3A1C-FAAE-BCF1-00172CFD0090}"/>
              </a:ext>
            </a:extLst>
          </p:cNvPr>
          <p:cNvSpPr/>
          <p:nvPr/>
        </p:nvSpPr>
        <p:spPr>
          <a:xfrm>
            <a:off x="14020800" y="9029700"/>
            <a:ext cx="6400800" cy="3200400"/>
          </a:xfrm>
          <a:prstGeom prst="snip2DiagRect">
            <a:avLst>
              <a:gd name="adj1" fmla="val 0"/>
              <a:gd name="adj2" fmla="val 2083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D5F9886A-CEF6-5949-9EE8-7DF18FCBBCE0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2228100" y="-3734014"/>
            <a:ext cx="4320000" cy="4320000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4151515F-1673-EBFA-5111-E901BE026660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5521081" y="-4123219"/>
            <a:ext cx="3400237" cy="3400237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EB81D96A-93C0-086B-9C0C-ED65BAC418A9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6980771" y="-4949851"/>
            <a:ext cx="2824243" cy="2824243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18DCB8AF-6EA7-9AF3-950A-1AB83E5A67D6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8544320" y="-5565045"/>
            <a:ext cx="2027316" cy="2027316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04F266-4F2E-1818-A1C0-D04959ABD6F8}"/>
              </a:ext>
            </a:extLst>
          </p:cNvPr>
          <p:cNvSpPr txBox="1"/>
          <p:nvPr/>
        </p:nvSpPr>
        <p:spPr>
          <a:xfrm>
            <a:off x="-2888291" y="1964245"/>
            <a:ext cx="309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docXaOs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5" name="Прямоугольник: один усеченный угол 14">
            <a:extLst>
              <a:ext uri="{FF2B5EF4-FFF2-40B4-BE49-F238E27FC236}">
                <a16:creationId xmlns:a16="http://schemas.microsoft.com/office/drawing/2014/main" id="{14EE020E-CEB0-D1C5-EA4E-8F12894293C9}"/>
              </a:ext>
            </a:extLst>
          </p:cNvPr>
          <p:cNvSpPr/>
          <p:nvPr/>
        </p:nvSpPr>
        <p:spPr>
          <a:xfrm rot="10800000">
            <a:off x="-11624819" y="0"/>
            <a:ext cx="5194300" cy="2451100"/>
          </a:xfrm>
          <a:prstGeom prst="snip1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051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61B744-CBC4-4949-B1A3-0A8DA0074C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9B3219C2-F752-4BAF-8FBB-849CBA91B59B}"/>
              </a:ext>
            </a:extLst>
          </p:cNvPr>
          <p:cNvSpPr/>
          <p:nvPr/>
        </p:nvSpPr>
        <p:spPr>
          <a:xfrm rot="10800000">
            <a:off x="0" y="0"/>
            <a:ext cx="5194300" cy="2451100"/>
          </a:xfrm>
          <a:prstGeom prst="snip1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2E2FEF8C-5D29-4E52-B39D-E7F8DC9D2FAC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7872000" y="11091"/>
            <a:ext cx="4320000" cy="4320000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D4E7739A-0A6D-4F5F-901E-4E653FD267DB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8430495" y="302220"/>
            <a:ext cx="3400237" cy="3400237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10AABE09-0622-41DC-B90C-DCB4CF722ED1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8768870" y="435572"/>
            <a:ext cx="2824243" cy="2824243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B6EFD530-9BF1-4A95-958F-A3E6794B8CB4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9331660" y="652775"/>
            <a:ext cx="2027316" cy="2027316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усеченные противолежащие углы 13">
            <a:extLst>
              <a:ext uri="{FF2B5EF4-FFF2-40B4-BE49-F238E27FC236}">
                <a16:creationId xmlns:a16="http://schemas.microsoft.com/office/drawing/2014/main" id="{DA0DDC1C-B05A-4263-B263-A2E0ACF24818}"/>
              </a:ext>
            </a:extLst>
          </p:cNvPr>
          <p:cNvSpPr/>
          <p:nvPr/>
        </p:nvSpPr>
        <p:spPr>
          <a:xfrm>
            <a:off x="5791200" y="3657600"/>
            <a:ext cx="6400800" cy="3200400"/>
          </a:xfrm>
          <a:prstGeom prst="snip2DiagRect">
            <a:avLst>
              <a:gd name="adj1" fmla="val 0"/>
              <a:gd name="adj2" fmla="val 2083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9F9DB-C946-471C-B889-234AF2623176}"/>
              </a:ext>
            </a:extLst>
          </p:cNvPr>
          <p:cNvSpPr txBox="1"/>
          <p:nvPr/>
        </p:nvSpPr>
        <p:spPr>
          <a:xfrm>
            <a:off x="19956106" y="2124487"/>
            <a:ext cx="2622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Python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88E4DC9-6375-4971-9944-FEC93094E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0426" y="1956579"/>
            <a:ext cx="672342" cy="73592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F5F58B1-428E-4659-9315-A86AB00921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629" y="4194689"/>
            <a:ext cx="586890" cy="5868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C030DB-C778-441A-90BB-672DFC0ECC67}"/>
              </a:ext>
            </a:extLst>
          </p:cNvPr>
          <p:cNvSpPr txBox="1"/>
          <p:nvPr/>
        </p:nvSpPr>
        <p:spPr>
          <a:xfrm>
            <a:off x="6840640" y="-2592913"/>
            <a:ext cx="4752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Средства для создание </a:t>
            </a:r>
          </a:p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проекта</a:t>
            </a:r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:</a:t>
            </a:r>
            <a:endParaRPr lang="ru-RU" sz="28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7E15003-B9F0-4519-8BB1-2696E6C77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519" y="-1663519"/>
            <a:ext cx="1086197" cy="113792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6778C3A-04D6-4BB1-848E-2DA3B9BC6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976" y="9972501"/>
            <a:ext cx="1086197" cy="10861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0BDA0-01FB-3448-FE4B-784B33AF3EA7}"/>
              </a:ext>
            </a:extLst>
          </p:cNvPr>
          <p:cNvSpPr txBox="1"/>
          <p:nvPr/>
        </p:nvSpPr>
        <p:spPr>
          <a:xfrm>
            <a:off x="22716632" y="4287376"/>
            <a:ext cx="4608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Aiogram</a:t>
            </a:r>
            <a:r>
              <a:rPr lang="ru-RU" sz="2000" dirty="0"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(взаимодействие с ботом)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6898D3-D8F1-7072-FBC3-0FFE1444EC9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9433" y="4818577"/>
            <a:ext cx="1045447" cy="104544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B73E05D-D489-3C72-75D4-85C3E38F4556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660" y="11058698"/>
            <a:ext cx="1207627" cy="12076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BE597B-FD45-823F-F379-FBB32F8C8C27}"/>
              </a:ext>
            </a:extLst>
          </p:cNvPr>
          <p:cNvSpPr txBox="1"/>
          <p:nvPr/>
        </p:nvSpPr>
        <p:spPr>
          <a:xfrm>
            <a:off x="6591300" y="4593810"/>
            <a:ext cx="5001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Сайт+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TG-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Бот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“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Поиск потерявшихся домашних животных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”</a:t>
            </a:r>
            <a:endParaRPr lang="ru-RU" sz="32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43552-6EAA-07F7-9470-7EA8B26EB435}"/>
              </a:ext>
            </a:extLst>
          </p:cNvPr>
          <p:cNvSpPr txBox="1"/>
          <p:nvPr/>
        </p:nvSpPr>
        <p:spPr>
          <a:xfrm>
            <a:off x="3237887" y="1949731"/>
            <a:ext cx="309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docXaOs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EDC1E-F61B-A24C-E8B5-58E4CE57736C}"/>
              </a:ext>
            </a:extLst>
          </p:cNvPr>
          <p:cNvSpPr txBox="1"/>
          <p:nvPr/>
        </p:nvSpPr>
        <p:spPr>
          <a:xfrm>
            <a:off x="126335" y="927208"/>
            <a:ext cx="435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Черноклинов Данила Александрович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3DA2CE-CAA0-9288-ED6E-7F144224B137}"/>
              </a:ext>
            </a:extLst>
          </p:cNvPr>
          <p:cNvSpPr txBox="1"/>
          <p:nvPr/>
        </p:nvSpPr>
        <p:spPr>
          <a:xfrm>
            <a:off x="114658" y="66240"/>
            <a:ext cx="400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Константин </a:t>
            </a:r>
            <a:r>
              <a:rPr lang="ru-RU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Дембцкий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Сергеевич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B634D-6D76-2B27-CD47-EE3E92ACC167}"/>
              </a:ext>
            </a:extLst>
          </p:cNvPr>
          <p:cNvSpPr txBox="1"/>
          <p:nvPr/>
        </p:nvSpPr>
        <p:spPr>
          <a:xfrm>
            <a:off x="193701" y="521716"/>
            <a:ext cx="35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Усенко Алексей Фёдорович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4A3041-8393-4357-BD42-39724D96C765}"/>
              </a:ext>
            </a:extLst>
          </p:cNvPr>
          <p:cNvSpPr txBox="1"/>
          <p:nvPr/>
        </p:nvSpPr>
        <p:spPr>
          <a:xfrm>
            <a:off x="23304517" y="5241759"/>
            <a:ext cx="343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</a:rPr>
              <a:t>Sqlite</a:t>
            </a:r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</a:rPr>
              <a:t>хранение данных)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C6B3A53-417E-4A2C-84F3-6B21A15DFD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70" y="-2397059"/>
            <a:ext cx="1256314" cy="125631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00C24E6-6964-4C3B-9E24-9BD38E7FAA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2649" y="2171091"/>
            <a:ext cx="1943436" cy="194343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DAE28F1D-CF2E-4D7F-934C-17AC4C9BB7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6063" y="5911924"/>
            <a:ext cx="1253744" cy="12537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DF0382B-31E5-421B-9D47-21C3FF5B2DF0}"/>
              </a:ext>
            </a:extLst>
          </p:cNvPr>
          <p:cNvSpPr txBox="1"/>
          <p:nvPr/>
        </p:nvSpPr>
        <p:spPr>
          <a:xfrm>
            <a:off x="24345050" y="6332285"/>
            <a:ext cx="272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Flask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4F25CD4A-842E-4EF4-8EED-D7E8C39E6B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4354" y="2775312"/>
            <a:ext cx="981377" cy="98137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903FF2D-A5B6-4307-B686-0BF8404DDE77}"/>
              </a:ext>
            </a:extLst>
          </p:cNvPr>
          <p:cNvSpPr txBox="1"/>
          <p:nvPr/>
        </p:nvSpPr>
        <p:spPr>
          <a:xfrm>
            <a:off x="23182390" y="3030526"/>
            <a:ext cx="3353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Front-end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7AC28D-FBD6-442F-8E53-B5E13B17642F}"/>
              </a:ext>
            </a:extLst>
          </p:cNvPr>
          <p:cNvSpPr txBox="1"/>
          <p:nvPr/>
        </p:nvSpPr>
        <p:spPr>
          <a:xfrm>
            <a:off x="16515075" y="229328"/>
            <a:ext cx="4752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Stack</a:t>
            </a:r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 для написании </a:t>
            </a:r>
          </a:p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проекта</a:t>
            </a:r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:</a:t>
            </a:r>
            <a:endParaRPr lang="ru-RU" sz="28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51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DC29F84-EA6A-4DDD-946F-3AEDF29F75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4621">
            <a:off x="-2773519" y="-390124"/>
            <a:ext cx="7477316" cy="6858000"/>
          </a:xfrm>
          <a:prstGeom prst="rect">
            <a:avLst/>
          </a:prstGeom>
        </p:spPr>
      </p:pic>
      <p:sp>
        <p:nvSpPr>
          <p:cNvPr id="14" name="Прямоугольник: усеченные противолежащие углы 13">
            <a:extLst>
              <a:ext uri="{FF2B5EF4-FFF2-40B4-BE49-F238E27FC236}">
                <a16:creationId xmlns:a16="http://schemas.microsoft.com/office/drawing/2014/main" id="{D581F827-BCE9-8020-DD53-3C1893554B24}"/>
              </a:ext>
            </a:extLst>
          </p:cNvPr>
          <p:cNvSpPr/>
          <p:nvPr/>
        </p:nvSpPr>
        <p:spPr>
          <a:xfrm>
            <a:off x="12183049" y="3657600"/>
            <a:ext cx="6400800" cy="3200400"/>
          </a:xfrm>
          <a:prstGeom prst="snip2DiagRect">
            <a:avLst>
              <a:gd name="adj1" fmla="val 0"/>
              <a:gd name="adj2" fmla="val 2083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8E8F0-5D5B-91CD-D3D4-5CA2022711AC}"/>
              </a:ext>
            </a:extLst>
          </p:cNvPr>
          <p:cNvSpPr txBox="1"/>
          <p:nvPr/>
        </p:nvSpPr>
        <p:spPr>
          <a:xfrm>
            <a:off x="13582036" y="4918274"/>
            <a:ext cx="5001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Сайт+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TG-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Бот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“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Поиск потерявшихся домашних животных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”</a:t>
            </a:r>
            <a:endParaRPr lang="ru-RU" sz="32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BF0BB5E4-B32E-5CCA-E0F9-0BDD76656EC7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9272073" y="-7340851"/>
            <a:ext cx="2027316" cy="2027316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363C8492-36E8-485B-2027-BAF55030D1D7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7461488" y="-6327193"/>
            <a:ext cx="2824243" cy="2824243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8818BED0-6ACD-1189-CE28-03C7E71F711B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5473372" y="-4409494"/>
            <a:ext cx="3400237" cy="3400237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48518CBC-BECA-8E78-91A5-64BA764B9B39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12329700" y="-2160000"/>
            <a:ext cx="4320000" cy="4320000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один усеченный угол 14">
            <a:extLst>
              <a:ext uri="{FF2B5EF4-FFF2-40B4-BE49-F238E27FC236}">
                <a16:creationId xmlns:a16="http://schemas.microsoft.com/office/drawing/2014/main" id="{4140D762-0632-1691-D632-1EA3E30202CF}"/>
              </a:ext>
            </a:extLst>
          </p:cNvPr>
          <p:cNvSpPr/>
          <p:nvPr/>
        </p:nvSpPr>
        <p:spPr>
          <a:xfrm rot="10800000">
            <a:off x="-9586451" y="0"/>
            <a:ext cx="5194300" cy="2451100"/>
          </a:xfrm>
          <a:prstGeom prst="snip1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CB1E8-084D-1D6A-9101-0BEE27FF603B}"/>
              </a:ext>
            </a:extLst>
          </p:cNvPr>
          <p:cNvSpPr txBox="1"/>
          <p:nvPr/>
        </p:nvSpPr>
        <p:spPr>
          <a:xfrm>
            <a:off x="-2825561" y="1688474"/>
            <a:ext cx="309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docXaOs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15D1B8-3917-A4E1-96EA-DA134BB738D6}"/>
              </a:ext>
            </a:extLst>
          </p:cNvPr>
          <p:cNvSpPr txBox="1"/>
          <p:nvPr/>
        </p:nvSpPr>
        <p:spPr>
          <a:xfrm>
            <a:off x="-4356765" y="1040884"/>
            <a:ext cx="435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Черноклинов Данила Александрович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B99E4-7825-135C-CC75-D5BA4E4C8CED}"/>
              </a:ext>
            </a:extLst>
          </p:cNvPr>
          <p:cNvSpPr txBox="1"/>
          <p:nvPr/>
        </p:nvSpPr>
        <p:spPr>
          <a:xfrm>
            <a:off x="-6736085" y="0"/>
            <a:ext cx="400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Константин </a:t>
            </a:r>
            <a:r>
              <a:rPr lang="ru-RU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Дембцкий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Сергеевич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41ED5F-A50B-FC44-0EF1-5C2CC37ACA2F}"/>
              </a:ext>
            </a:extLst>
          </p:cNvPr>
          <p:cNvSpPr txBox="1"/>
          <p:nvPr/>
        </p:nvSpPr>
        <p:spPr>
          <a:xfrm>
            <a:off x="-4886299" y="557876"/>
            <a:ext cx="35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Усенко Алексей Фёдорович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20550DB-1DF7-443E-B9DD-1FD1652C9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61" y="1479271"/>
            <a:ext cx="1086197" cy="113792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AE57E12-041E-4475-A5E4-1880B2D85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7" y="4903470"/>
            <a:ext cx="1086197" cy="108619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17EE18-2529-4211-B858-3DBD6AA3F09B}"/>
              </a:ext>
            </a:extLst>
          </p:cNvPr>
          <p:cNvSpPr txBox="1"/>
          <p:nvPr/>
        </p:nvSpPr>
        <p:spPr>
          <a:xfrm>
            <a:off x="6617368" y="180835"/>
            <a:ext cx="4752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Stack</a:t>
            </a:r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 для написании </a:t>
            </a:r>
          </a:p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проекта</a:t>
            </a:r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:</a:t>
            </a:r>
            <a:endParaRPr lang="ru-RU" sz="28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275B80-F32E-48B9-9FE3-C8EC9CC1E26C}"/>
              </a:ext>
            </a:extLst>
          </p:cNvPr>
          <p:cNvSpPr txBox="1"/>
          <p:nvPr/>
        </p:nvSpPr>
        <p:spPr>
          <a:xfrm>
            <a:off x="7076019" y="1672734"/>
            <a:ext cx="2622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Python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B3830B5-6D1A-4B7C-B897-C0AA33EFF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042" y="1488728"/>
            <a:ext cx="774746" cy="81163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8625F8-7FC8-4B64-83DE-974B48410A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0634"/>
            <a:ext cx="1943436" cy="194343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4B0553A-8338-49BA-9CFB-57F9E7E21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929" y="5414382"/>
            <a:ext cx="1253744" cy="125374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F7E21D5-CE77-4842-9AA5-5F259104E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9" y="3546085"/>
            <a:ext cx="586890" cy="58689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F43CC16-ADC8-4485-BA5C-C4C0C40C52AD}"/>
              </a:ext>
            </a:extLst>
          </p:cNvPr>
          <p:cNvSpPr txBox="1"/>
          <p:nvPr/>
        </p:nvSpPr>
        <p:spPr>
          <a:xfrm>
            <a:off x="6894094" y="3670093"/>
            <a:ext cx="4608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Aiogram</a:t>
            </a:r>
            <a:r>
              <a:rPr lang="ru-RU" sz="2000" dirty="0"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(взаимодействие с ботом)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0C4DA3B-EFEE-4C01-8DB7-1D301BEB0E0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231" y="3710647"/>
            <a:ext cx="1207627" cy="12076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459A21-0973-4C3B-B777-8FEDC4BDA0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3" y="369332"/>
            <a:ext cx="1256314" cy="125631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83D8146-1CA3-4F53-B6EB-3E894134EF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80" y="2361978"/>
            <a:ext cx="981377" cy="981377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24A3F0C-8FEC-4CB4-A516-6C321701664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107" y="4396941"/>
            <a:ext cx="1013058" cy="1013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0955E-E6FA-4757-B3C4-D912B03689EC}"/>
              </a:ext>
            </a:extLst>
          </p:cNvPr>
          <p:cNvSpPr txBox="1"/>
          <p:nvPr/>
        </p:nvSpPr>
        <p:spPr>
          <a:xfrm>
            <a:off x="7314916" y="2617192"/>
            <a:ext cx="3353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Front-end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3F4C2B-273E-40A3-B331-9375A3783BEF}"/>
              </a:ext>
            </a:extLst>
          </p:cNvPr>
          <p:cNvSpPr txBox="1"/>
          <p:nvPr/>
        </p:nvSpPr>
        <p:spPr>
          <a:xfrm>
            <a:off x="7076019" y="4673600"/>
            <a:ext cx="343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</a:rPr>
              <a:t>Sqlite</a:t>
            </a:r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</a:rPr>
              <a:t>хранение данных)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897F04-1F23-426A-9080-B0F633865465}"/>
              </a:ext>
            </a:extLst>
          </p:cNvPr>
          <p:cNvSpPr txBox="1"/>
          <p:nvPr/>
        </p:nvSpPr>
        <p:spPr>
          <a:xfrm>
            <a:off x="7314916" y="5834743"/>
            <a:ext cx="272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Flask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68E0CC7-2D51-804C-D35E-DA50DCAF4472}"/>
              </a:ext>
            </a:extLst>
          </p:cNvPr>
          <p:cNvSpPr/>
          <p:nvPr/>
        </p:nvSpPr>
        <p:spPr>
          <a:xfrm>
            <a:off x="-9280693" y="-955893"/>
            <a:ext cx="7056784" cy="43513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24701F1-C24B-4130-A83B-DCDC7D60FFB8}"/>
              </a:ext>
            </a:extLst>
          </p:cNvPr>
          <p:cNvSpPr/>
          <p:nvPr/>
        </p:nvSpPr>
        <p:spPr>
          <a:xfrm>
            <a:off x="15473372" y="-1007983"/>
            <a:ext cx="7056784" cy="435133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19160DC-16F0-E660-4E0F-BF136A365BED}"/>
              </a:ext>
            </a:extLst>
          </p:cNvPr>
          <p:cNvSpPr/>
          <p:nvPr/>
        </p:nvSpPr>
        <p:spPr>
          <a:xfrm>
            <a:off x="15345217" y="8415453"/>
            <a:ext cx="7056784" cy="435133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1AE38-6A29-68F6-7282-4925DCD8633D}"/>
              </a:ext>
            </a:extLst>
          </p:cNvPr>
          <p:cNvSpPr txBox="1"/>
          <p:nvPr/>
        </p:nvSpPr>
        <p:spPr>
          <a:xfrm>
            <a:off x="16936456" y="4645925"/>
            <a:ext cx="55147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Реализовать </a:t>
            </a:r>
            <a:r>
              <a:rPr lang="ru-RU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контеризацию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проекта для развертки проекта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E0DF1-25A4-C01E-B9A1-0AC9C0C22470}"/>
              </a:ext>
            </a:extLst>
          </p:cNvPr>
          <p:cNvSpPr txBox="1"/>
          <p:nvPr/>
        </p:nvSpPr>
        <p:spPr>
          <a:xfrm>
            <a:off x="17791103" y="840816"/>
            <a:ext cx="47524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Уведомлять людей о найденных похожих животных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E1C091-7C3E-8876-C3A3-EB82C2263159}"/>
              </a:ext>
            </a:extLst>
          </p:cNvPr>
          <p:cNvSpPr txBox="1"/>
          <p:nvPr/>
        </p:nvSpPr>
        <p:spPr>
          <a:xfrm>
            <a:off x="-10550799" y="369332"/>
            <a:ext cx="49895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Улучшить изначальный сайт </a:t>
            </a:r>
            <a:r>
              <a:rPr lang="en-US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admhmao.animal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и сделать к нему микро-сервис в виде телеграм бота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22580C-7017-1BA1-732F-E9ABF7E23EF5}"/>
              </a:ext>
            </a:extLst>
          </p:cNvPr>
          <p:cNvSpPr txBox="1"/>
          <p:nvPr/>
        </p:nvSpPr>
        <p:spPr>
          <a:xfrm>
            <a:off x="-8194723" y="5054878"/>
            <a:ext cx="453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201095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Блок-схема: альтернативный процесс 22">
            <a:extLst>
              <a:ext uri="{FF2B5EF4-FFF2-40B4-BE49-F238E27FC236}">
                <a16:creationId xmlns:a16="http://schemas.microsoft.com/office/drawing/2014/main" id="{8C579BE7-8110-36DA-29F7-78351E5DBED5}"/>
              </a:ext>
            </a:extLst>
          </p:cNvPr>
          <p:cNvSpPr/>
          <p:nvPr/>
        </p:nvSpPr>
        <p:spPr>
          <a:xfrm>
            <a:off x="-168697" y="9115955"/>
            <a:ext cx="12529393" cy="5788835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D8F4B9B-E8E7-4B63-9C3B-19B41F5D93B7}"/>
              </a:ext>
            </a:extLst>
          </p:cNvPr>
          <p:cNvSpPr/>
          <p:nvPr/>
        </p:nvSpPr>
        <p:spPr>
          <a:xfrm>
            <a:off x="6012389" y="3605411"/>
            <a:ext cx="7056784" cy="435133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6900EC7-0F3A-402F-AE4F-4E77DB570541}"/>
              </a:ext>
            </a:extLst>
          </p:cNvPr>
          <p:cNvSpPr/>
          <p:nvPr/>
        </p:nvSpPr>
        <p:spPr>
          <a:xfrm>
            <a:off x="-995987" y="-1000857"/>
            <a:ext cx="7056784" cy="43513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410C1-1EA4-45D5-B0A5-D0EF5872DCB3}"/>
              </a:ext>
            </a:extLst>
          </p:cNvPr>
          <p:cNvSpPr txBox="1"/>
          <p:nvPr/>
        </p:nvSpPr>
        <p:spPr>
          <a:xfrm>
            <a:off x="4436085" y="-2445568"/>
            <a:ext cx="5153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</a:rPr>
              <a:t>Функционал</a:t>
            </a:r>
          </a:p>
        </p:txBody>
      </p:sp>
      <p:sp>
        <p:nvSpPr>
          <p:cNvPr id="32" name="Блок-схема: узел 31">
            <a:extLst>
              <a:ext uri="{FF2B5EF4-FFF2-40B4-BE49-F238E27FC236}">
                <a16:creationId xmlns:a16="http://schemas.microsoft.com/office/drawing/2014/main" id="{54252C80-8C8C-4BC7-A14F-E9404827C764}"/>
              </a:ext>
            </a:extLst>
          </p:cNvPr>
          <p:cNvSpPr/>
          <p:nvPr/>
        </p:nvSpPr>
        <p:spPr>
          <a:xfrm>
            <a:off x="-3745028" y="2915109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BB6E56D-3217-4D4E-8FF0-6D9AEC0F1E04}"/>
              </a:ext>
            </a:extLst>
          </p:cNvPr>
          <p:cNvSpPr/>
          <p:nvPr/>
        </p:nvSpPr>
        <p:spPr>
          <a:xfrm>
            <a:off x="14218903" y="2931841"/>
            <a:ext cx="1486827" cy="1477536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Блок-схема: узел 39">
            <a:extLst>
              <a:ext uri="{FF2B5EF4-FFF2-40B4-BE49-F238E27FC236}">
                <a16:creationId xmlns:a16="http://schemas.microsoft.com/office/drawing/2014/main" id="{005D0F32-5C17-496D-A2A4-00EC1781A229}"/>
              </a:ext>
            </a:extLst>
          </p:cNvPr>
          <p:cNvSpPr/>
          <p:nvPr/>
        </p:nvSpPr>
        <p:spPr>
          <a:xfrm>
            <a:off x="5388826" y="8059267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97D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33310636-49C9-4BAB-80C4-5E856D679A66}"/>
              </a:ext>
            </a:extLst>
          </p:cNvPr>
          <p:cNvSpPr/>
          <p:nvPr/>
        </p:nvSpPr>
        <p:spPr>
          <a:xfrm>
            <a:off x="6045333" y="-1000857"/>
            <a:ext cx="7056784" cy="435133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D02D0-1524-15C4-AD9D-74C5508AB417}"/>
              </a:ext>
            </a:extLst>
          </p:cNvPr>
          <p:cNvSpPr txBox="1"/>
          <p:nvPr/>
        </p:nvSpPr>
        <p:spPr>
          <a:xfrm>
            <a:off x="1002448" y="4639302"/>
            <a:ext cx="453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Цели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F723D9-07A8-42A9-9EEA-C225AEE9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4621">
            <a:off x="-7240453" y="-198322"/>
            <a:ext cx="7477316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2605EA-5D8B-47DF-8BD2-65A84F4DD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8296" y="1479271"/>
            <a:ext cx="1086197" cy="11379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7F1268-7928-4B39-A4E1-180A66DEE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4630" y="4903470"/>
            <a:ext cx="1086197" cy="108619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94021A-A281-4B5D-B889-32B94D456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84957" y="2120634"/>
            <a:ext cx="1943436" cy="194343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F02117-08D8-4573-A43E-EC851F7BE789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9726" y="3710647"/>
            <a:ext cx="1207627" cy="12076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60B8DF7-11FD-4DE3-A7FA-14B037257D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99844" y="369332"/>
            <a:ext cx="1256314" cy="12563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B45004F-220A-3778-50C7-8F8AA1A48033}"/>
              </a:ext>
            </a:extLst>
          </p:cNvPr>
          <p:cNvSpPr txBox="1"/>
          <p:nvPr/>
        </p:nvSpPr>
        <p:spPr>
          <a:xfrm>
            <a:off x="480945" y="666163"/>
            <a:ext cx="49895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Улучшить изначальный сайт </a:t>
            </a:r>
            <a:r>
              <a:rPr lang="en-US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admhmao.animal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и сделать к нему микро-сервис в виде телеграм бота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B47D9A-44D1-7532-7315-3E0F3F3844C3}"/>
              </a:ext>
            </a:extLst>
          </p:cNvPr>
          <p:cNvSpPr txBox="1"/>
          <p:nvPr/>
        </p:nvSpPr>
        <p:spPr>
          <a:xfrm>
            <a:off x="6626693" y="1174812"/>
            <a:ext cx="47524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Уведомлять людей о найденных похожих животных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C79220-2476-7DB6-24C1-03B62FD7EC9A}"/>
              </a:ext>
            </a:extLst>
          </p:cNvPr>
          <p:cNvSpPr txBox="1"/>
          <p:nvPr/>
        </p:nvSpPr>
        <p:spPr>
          <a:xfrm>
            <a:off x="6505844" y="4442071"/>
            <a:ext cx="55147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Реализовать </a:t>
            </a:r>
            <a:r>
              <a:rPr lang="ru-RU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контеризацию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проекта для развертки проекта 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33E4C7B-7467-43F1-6AF7-BCE15B47BA1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643" y="10401834"/>
            <a:ext cx="1180308" cy="63736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B243239-2E9D-7DFB-1414-262F7BE1E560}"/>
              </a:ext>
            </a:extLst>
          </p:cNvPr>
          <p:cNvSpPr txBox="1"/>
          <p:nvPr/>
        </p:nvSpPr>
        <p:spPr>
          <a:xfrm>
            <a:off x="4498019" y="11849927"/>
            <a:ext cx="3028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Обученная модель алгоритма для сравнения фотографий и нахождение похожего животного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9F299-12EF-8864-FA4F-A6CC1AA5A8D2}"/>
              </a:ext>
            </a:extLst>
          </p:cNvPr>
          <p:cNvSpPr txBox="1"/>
          <p:nvPr/>
        </p:nvSpPr>
        <p:spPr>
          <a:xfrm>
            <a:off x="-6958429" y="9792514"/>
            <a:ext cx="27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Сам сайт с пропавшими и найденными животными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CE85CF9D-5747-8274-C6EA-E82EC01263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9880615" y="3433525"/>
            <a:ext cx="1045029" cy="1045029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40F011B-F86C-C2F0-082A-4827984EDB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8195" y="3360953"/>
            <a:ext cx="1190171" cy="119017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05364C2-1FB0-6E14-2F73-949DB33CCA1B}"/>
              </a:ext>
            </a:extLst>
          </p:cNvPr>
          <p:cNvSpPr txBox="1"/>
          <p:nvPr/>
        </p:nvSpPr>
        <p:spPr>
          <a:xfrm>
            <a:off x="18513107" y="8784096"/>
            <a:ext cx="32842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Телеграм-бот на который должен будет приходить уведомление о найденном похожем животном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82AA05-D573-91EE-04FC-70A2485C2E38}"/>
              </a:ext>
            </a:extLst>
          </p:cNvPr>
          <p:cNvSpPr txBox="1"/>
          <p:nvPr/>
        </p:nvSpPr>
        <p:spPr>
          <a:xfrm>
            <a:off x="14781539" y="369332"/>
            <a:ext cx="4752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Stack</a:t>
            </a:r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 для написании </a:t>
            </a:r>
          </a:p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проекта</a:t>
            </a:r>
            <a:r>
              <a:rPr lang="en-US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:</a:t>
            </a:r>
            <a:endParaRPr lang="ru-RU" sz="28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7C27F5-4417-46D2-8D99-0031E80EC245}"/>
              </a:ext>
            </a:extLst>
          </p:cNvPr>
          <p:cNvSpPr txBox="1"/>
          <p:nvPr/>
        </p:nvSpPr>
        <p:spPr>
          <a:xfrm>
            <a:off x="15846869" y="1675684"/>
            <a:ext cx="2622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Python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16A503A-03A2-EB5E-6A9B-403782D90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316" y="1460794"/>
            <a:ext cx="774746" cy="81163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2235A1D3-DFFC-6F58-1798-C86D94F923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2145" y="5600671"/>
            <a:ext cx="1253744" cy="1253744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93B6DABB-A296-C2C4-D2C5-EFDFFA170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3195" y="3708644"/>
            <a:ext cx="586890" cy="58689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7B40078-3FE9-1267-544D-4F313BC1DF99}"/>
              </a:ext>
            </a:extLst>
          </p:cNvPr>
          <p:cNvSpPr txBox="1"/>
          <p:nvPr/>
        </p:nvSpPr>
        <p:spPr>
          <a:xfrm>
            <a:off x="18839455" y="3755983"/>
            <a:ext cx="4608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Aiogram</a:t>
            </a:r>
            <a:r>
              <a:rPr lang="ru-RU" sz="2000" dirty="0"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(взаимодействие с ботом)</a:t>
            </a:r>
            <a:endParaRPr lang="ru-RU" sz="2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29B2C434-6C20-6655-7773-2432C7703E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17" y="2318405"/>
            <a:ext cx="981377" cy="981377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D6BBDEC6-210F-3732-CACF-8BE752D3FC01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83" y="4703985"/>
            <a:ext cx="1013058" cy="101305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4FE85B5-1C22-3B78-FCBE-F42FC358027C}"/>
              </a:ext>
            </a:extLst>
          </p:cNvPr>
          <p:cNvSpPr txBox="1"/>
          <p:nvPr/>
        </p:nvSpPr>
        <p:spPr>
          <a:xfrm>
            <a:off x="18556586" y="2656469"/>
            <a:ext cx="3353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Front-end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0AC7B9-A502-F7B4-2E4D-93849034B5F1}"/>
              </a:ext>
            </a:extLst>
          </p:cNvPr>
          <p:cNvSpPr txBox="1"/>
          <p:nvPr/>
        </p:nvSpPr>
        <p:spPr>
          <a:xfrm>
            <a:off x="20582635" y="4886275"/>
            <a:ext cx="343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</a:rPr>
              <a:t>Sqlite</a:t>
            </a:r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</a:rPr>
              <a:t>хранение данных)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3C2112-81D9-4004-D23E-F68194A23953}"/>
              </a:ext>
            </a:extLst>
          </p:cNvPr>
          <p:cNvSpPr txBox="1"/>
          <p:nvPr/>
        </p:nvSpPr>
        <p:spPr>
          <a:xfrm>
            <a:off x="21856514" y="6100762"/>
            <a:ext cx="272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</a:rPr>
              <a:t>Flask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26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Блок-схема: альтернативный процесс 22">
            <a:extLst>
              <a:ext uri="{FF2B5EF4-FFF2-40B4-BE49-F238E27FC236}">
                <a16:creationId xmlns:a16="http://schemas.microsoft.com/office/drawing/2014/main" id="{EA3E1207-0A15-E926-87C0-017959FC23A1}"/>
              </a:ext>
            </a:extLst>
          </p:cNvPr>
          <p:cNvSpPr/>
          <p:nvPr/>
        </p:nvSpPr>
        <p:spPr>
          <a:xfrm>
            <a:off x="-168697" y="2143655"/>
            <a:ext cx="12529393" cy="5788835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Блок-схема: альтернативный процесс 36">
            <a:extLst>
              <a:ext uri="{FF2B5EF4-FFF2-40B4-BE49-F238E27FC236}">
                <a16:creationId xmlns:a16="http://schemas.microsoft.com/office/drawing/2014/main" id="{E54E32D0-C374-4E04-BE25-DB4E57CCF06E}"/>
              </a:ext>
            </a:extLst>
          </p:cNvPr>
          <p:cNvSpPr/>
          <p:nvPr/>
        </p:nvSpPr>
        <p:spPr>
          <a:xfrm>
            <a:off x="-5726406" y="-459432"/>
            <a:ext cx="5124907" cy="7776864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438D55D-B15D-7E50-9201-911C53BE9833}"/>
              </a:ext>
            </a:extLst>
          </p:cNvPr>
          <p:cNvSpPr/>
          <p:nvPr/>
        </p:nvSpPr>
        <p:spPr>
          <a:xfrm>
            <a:off x="8825261" y="2931841"/>
            <a:ext cx="1486827" cy="1477536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A8851EA6-554E-31DC-D7FC-09D4CB58A389}"/>
              </a:ext>
            </a:extLst>
          </p:cNvPr>
          <p:cNvSpPr/>
          <p:nvPr/>
        </p:nvSpPr>
        <p:spPr>
          <a:xfrm>
            <a:off x="5388826" y="2943921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97D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узел 4">
            <a:extLst>
              <a:ext uri="{FF2B5EF4-FFF2-40B4-BE49-F238E27FC236}">
                <a16:creationId xmlns:a16="http://schemas.microsoft.com/office/drawing/2014/main" id="{80F3BAA7-7A71-6E3C-699E-ED9FCCAC9F15}"/>
              </a:ext>
            </a:extLst>
          </p:cNvPr>
          <p:cNvSpPr/>
          <p:nvPr/>
        </p:nvSpPr>
        <p:spPr>
          <a:xfrm>
            <a:off x="1900406" y="2915109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C6F197-AB77-468A-BA9A-17C35559D7CB}"/>
              </a:ext>
            </a:extLst>
          </p:cNvPr>
          <p:cNvSpPr txBox="1"/>
          <p:nvPr/>
        </p:nvSpPr>
        <p:spPr>
          <a:xfrm>
            <a:off x="4436085" y="642191"/>
            <a:ext cx="5153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</a:rPr>
              <a:t>Функционал</a:t>
            </a:r>
          </a:p>
        </p:txBody>
      </p:sp>
      <p:sp>
        <p:nvSpPr>
          <p:cNvPr id="36" name="Блок-схема: альтернативный процесс 35">
            <a:extLst>
              <a:ext uri="{FF2B5EF4-FFF2-40B4-BE49-F238E27FC236}">
                <a16:creationId xmlns:a16="http://schemas.microsoft.com/office/drawing/2014/main" id="{AD04CA75-31CE-4BCF-96D2-F2AB16AF1C6A}"/>
              </a:ext>
            </a:extLst>
          </p:cNvPr>
          <p:cNvSpPr/>
          <p:nvPr/>
        </p:nvSpPr>
        <p:spPr>
          <a:xfrm>
            <a:off x="-8037145" y="-459432"/>
            <a:ext cx="5124907" cy="7776864"/>
          </a:xfrm>
          <a:prstGeom prst="flowChartAlternateProcess">
            <a:avLst/>
          </a:prstGeom>
          <a:solidFill>
            <a:srgbClr val="92D050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DB17A-402E-C0F5-CED8-648579F0CB2E}"/>
              </a:ext>
            </a:extLst>
          </p:cNvPr>
          <p:cNvSpPr txBox="1"/>
          <p:nvPr/>
        </p:nvSpPr>
        <p:spPr>
          <a:xfrm>
            <a:off x="14036100" y="4967305"/>
            <a:ext cx="453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Цели и задачи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86A9EF1-7826-54B3-F252-651AA9C131D4}"/>
              </a:ext>
            </a:extLst>
          </p:cNvPr>
          <p:cNvSpPr/>
          <p:nvPr/>
        </p:nvSpPr>
        <p:spPr>
          <a:xfrm>
            <a:off x="-8158787" y="-1000857"/>
            <a:ext cx="7056784" cy="435133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76A6C94-7392-9E69-C6DC-F1CDBD8E18F2}"/>
              </a:ext>
            </a:extLst>
          </p:cNvPr>
          <p:cNvSpPr/>
          <p:nvPr/>
        </p:nvSpPr>
        <p:spPr>
          <a:xfrm>
            <a:off x="15646533" y="-1000857"/>
            <a:ext cx="7056784" cy="435133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7A1F99B-9047-24AC-5912-610B30D7C539}"/>
              </a:ext>
            </a:extLst>
          </p:cNvPr>
          <p:cNvSpPr/>
          <p:nvPr/>
        </p:nvSpPr>
        <p:spPr>
          <a:xfrm>
            <a:off x="15670739" y="3624461"/>
            <a:ext cx="7056784" cy="4351338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AB35B-DB14-174F-F6BD-DF560C8C84B2}"/>
              </a:ext>
            </a:extLst>
          </p:cNvPr>
          <p:cNvSpPr txBox="1"/>
          <p:nvPr/>
        </p:nvSpPr>
        <p:spPr>
          <a:xfrm>
            <a:off x="16139129" y="4364767"/>
            <a:ext cx="55147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Реализовать </a:t>
            </a:r>
            <a:r>
              <a:rPr lang="ru-RU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контеризацию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проекта для развертки проекта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B0060-4D0E-2C10-BA66-7970AB092119}"/>
              </a:ext>
            </a:extLst>
          </p:cNvPr>
          <p:cNvSpPr txBox="1"/>
          <p:nvPr/>
        </p:nvSpPr>
        <p:spPr>
          <a:xfrm>
            <a:off x="16844432" y="620355"/>
            <a:ext cx="47524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Уведомлять людей о найденных похожих животных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06D56-4364-EE48-3BFB-CC9E3E66BC8A}"/>
              </a:ext>
            </a:extLst>
          </p:cNvPr>
          <p:cNvSpPr txBox="1"/>
          <p:nvPr/>
        </p:nvSpPr>
        <p:spPr>
          <a:xfrm>
            <a:off x="-6870044" y="405528"/>
            <a:ext cx="49895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Улучшить изначальный сайт </a:t>
            </a:r>
            <a:r>
              <a:rPr lang="en-US" sz="3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admhmao.animal</a:t>
            </a:r>
            <a:r>
              <a:rPr lang="en-US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и сделать к нему микро-сервис в виде телеграм бота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CFB0A2A-F6F5-4E7A-4FA3-F7FE8F9D8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88779" y="3101946"/>
            <a:ext cx="1045029" cy="104502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E0839C1-83C2-46A6-F97A-C3E16DFCC0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24" y="3281917"/>
            <a:ext cx="1180308" cy="63736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320B8CC-A167-0865-5F7B-97FE39F5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475" y="3101946"/>
            <a:ext cx="1190171" cy="119017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E6B2319-541D-F0A0-FACC-D19F5DE825AE}"/>
              </a:ext>
            </a:extLst>
          </p:cNvPr>
          <p:cNvSpPr txBox="1"/>
          <p:nvPr/>
        </p:nvSpPr>
        <p:spPr>
          <a:xfrm>
            <a:off x="1231196" y="4582389"/>
            <a:ext cx="27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Сам сайт с пропавшими и найденными животными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2860D3-2F58-9C86-F959-4B0BD9D5B563}"/>
              </a:ext>
            </a:extLst>
          </p:cNvPr>
          <p:cNvSpPr txBox="1"/>
          <p:nvPr/>
        </p:nvSpPr>
        <p:spPr>
          <a:xfrm>
            <a:off x="4623124" y="4531818"/>
            <a:ext cx="3028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Обученная модель алгоритма для сравнения фотографий и нахождение похожего животного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0DBDE2-219C-0410-FD58-1EF5B49DEC0F}"/>
              </a:ext>
            </a:extLst>
          </p:cNvPr>
          <p:cNvSpPr txBox="1"/>
          <p:nvPr/>
        </p:nvSpPr>
        <p:spPr>
          <a:xfrm>
            <a:off x="7933167" y="4479376"/>
            <a:ext cx="32842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Телеграм-бот на который должен будет приходить уведомление о найденном похожем животном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1C3E28-D82F-C65F-6C94-F6043E4F37DD}"/>
              </a:ext>
            </a:extLst>
          </p:cNvPr>
          <p:cNvSpPr txBox="1"/>
          <p:nvPr/>
        </p:nvSpPr>
        <p:spPr>
          <a:xfrm>
            <a:off x="-12140469" y="3112256"/>
            <a:ext cx="5270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Целевая аудитория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73B8C7A-F796-1FB9-A3FE-37D4E4E6AF20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3886" y="2914252"/>
            <a:ext cx="852133" cy="852133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3058AED-7B19-A752-37D7-6C3655813BED}"/>
              </a:ext>
            </a:extLst>
          </p:cNvPr>
          <p:cNvSpPr txBox="1"/>
          <p:nvPr/>
        </p:nvSpPr>
        <p:spPr>
          <a:xfrm>
            <a:off x="16076984" y="4041601"/>
            <a:ext cx="1851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Волонтёры и приюты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F8F7077-00F9-FC8B-5482-797936372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271" y="-1574619"/>
            <a:ext cx="2758688" cy="206901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622204C-3A98-7F5A-A1D8-C6C5AD4B2329}"/>
              </a:ext>
            </a:extLst>
          </p:cNvPr>
          <p:cNvSpPr txBox="1"/>
          <p:nvPr/>
        </p:nvSpPr>
        <p:spPr>
          <a:xfrm>
            <a:off x="15988992" y="591753"/>
            <a:ext cx="2027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Люди, нашедшие животных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C0F508-024A-C4BB-2F83-5A941F120917}"/>
              </a:ext>
            </a:extLst>
          </p:cNvPr>
          <p:cNvSpPr txBox="1"/>
          <p:nvPr/>
        </p:nvSpPr>
        <p:spPr>
          <a:xfrm>
            <a:off x="16139129" y="7192156"/>
            <a:ext cx="199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Владельцы потерянных животных</a:t>
            </a: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F7375553-A575-90EC-6F6B-ABA4E12A1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2590" y="6014389"/>
            <a:ext cx="1040777" cy="104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0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Блок-схема: альтернативный процесс 24">
            <a:extLst>
              <a:ext uri="{FF2B5EF4-FFF2-40B4-BE49-F238E27FC236}">
                <a16:creationId xmlns:a16="http://schemas.microsoft.com/office/drawing/2014/main" id="{A92FDCD6-5721-88A0-CC88-6BEFBD6C49D3}"/>
              </a:ext>
            </a:extLst>
          </p:cNvPr>
          <p:cNvSpPr/>
          <p:nvPr/>
        </p:nvSpPr>
        <p:spPr>
          <a:xfrm>
            <a:off x="-168697" y="8032865"/>
            <a:ext cx="12529393" cy="5788835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36EA9A-2881-23B0-B8C3-A251C90A7A0F}"/>
              </a:ext>
            </a:extLst>
          </p:cNvPr>
          <p:cNvSpPr txBox="1"/>
          <p:nvPr/>
        </p:nvSpPr>
        <p:spPr>
          <a:xfrm>
            <a:off x="5007826" y="-1690826"/>
            <a:ext cx="76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₽</a:t>
            </a:r>
            <a:endParaRPr lang="ru-RU" sz="8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15E83-24F5-2415-4F4E-507D5920B406}"/>
              </a:ext>
            </a:extLst>
          </p:cNvPr>
          <p:cNvSpPr txBox="1"/>
          <p:nvPr/>
        </p:nvSpPr>
        <p:spPr>
          <a:xfrm>
            <a:off x="957417" y="-1691130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E3721-3800-5C48-6B7B-5479612A0E98}"/>
              </a:ext>
            </a:extLst>
          </p:cNvPr>
          <p:cNvSpPr txBox="1"/>
          <p:nvPr/>
        </p:nvSpPr>
        <p:spPr>
          <a:xfrm>
            <a:off x="2351575" y="-17368503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9FE40-9E7E-B6B1-E42C-5BC8A8C02643}"/>
              </a:ext>
            </a:extLst>
          </p:cNvPr>
          <p:cNvSpPr txBox="1"/>
          <p:nvPr/>
        </p:nvSpPr>
        <p:spPr>
          <a:xfrm>
            <a:off x="3978833" y="-1713990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7E7260-AA95-2184-F860-5A38DF7BAA36}"/>
              </a:ext>
            </a:extLst>
          </p:cNvPr>
          <p:cNvSpPr txBox="1"/>
          <p:nvPr/>
        </p:nvSpPr>
        <p:spPr>
          <a:xfrm>
            <a:off x="1641373" y="7351653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4DF13F-1A7F-968C-994B-92EBA91EA137}"/>
              </a:ext>
            </a:extLst>
          </p:cNvPr>
          <p:cNvSpPr txBox="1"/>
          <p:nvPr/>
        </p:nvSpPr>
        <p:spPr>
          <a:xfrm>
            <a:off x="3172460" y="7924141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9717C44-5BDB-5161-C33D-2441DF4E453D}"/>
              </a:ext>
            </a:extLst>
          </p:cNvPr>
          <p:cNvSpPr/>
          <p:nvPr/>
        </p:nvSpPr>
        <p:spPr>
          <a:xfrm>
            <a:off x="0" y="3429000"/>
            <a:ext cx="12192000" cy="34402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3DBCBDE-9E91-E595-4E68-C75F5F5381E4}"/>
              </a:ext>
            </a:extLst>
          </p:cNvPr>
          <p:cNvSpPr/>
          <p:nvPr/>
        </p:nvSpPr>
        <p:spPr>
          <a:xfrm>
            <a:off x="-168698" y="-38679"/>
            <a:ext cx="12360697" cy="2425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DD60381-A15F-D639-2B27-90390E3AE2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805" y="-43860"/>
            <a:ext cx="10287000" cy="6908719"/>
          </a:xfrm>
          <a:prstGeom prst="rect">
            <a:avLst/>
          </a:prstGeom>
          <a:noFill/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9CA8-08A2-9A6E-59A8-DDD486D0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192000" y="4919786"/>
            <a:ext cx="1248816" cy="1325563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850913-E1AE-4B8A-AFE5-6B03C8702558}"/>
              </a:ext>
            </a:extLst>
          </p:cNvPr>
          <p:cNvSpPr txBox="1"/>
          <p:nvPr/>
        </p:nvSpPr>
        <p:spPr>
          <a:xfrm>
            <a:off x="4448417" y="-2248802"/>
            <a:ext cx="5153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</a:rPr>
              <a:t>Функционал</a:t>
            </a:r>
          </a:p>
        </p:txBody>
      </p:sp>
      <p:sp>
        <p:nvSpPr>
          <p:cNvPr id="32" name="Блок-схема: узел 31">
            <a:extLst>
              <a:ext uri="{FF2B5EF4-FFF2-40B4-BE49-F238E27FC236}">
                <a16:creationId xmlns:a16="http://schemas.microsoft.com/office/drawing/2014/main" id="{61884E64-B203-43F9-B98C-B8EB4B4A8B01}"/>
              </a:ext>
            </a:extLst>
          </p:cNvPr>
          <p:cNvSpPr/>
          <p:nvPr/>
        </p:nvSpPr>
        <p:spPr>
          <a:xfrm>
            <a:off x="1905001" y="-3841573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A6E3A4E-9EC8-4F9E-A6BD-F7D0290E7E58}"/>
              </a:ext>
            </a:extLst>
          </p:cNvPr>
          <p:cNvSpPr/>
          <p:nvPr/>
        </p:nvSpPr>
        <p:spPr>
          <a:xfrm>
            <a:off x="8825261" y="-3773769"/>
            <a:ext cx="1486827" cy="1477536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Блок-схема: узел 41">
            <a:extLst>
              <a:ext uri="{FF2B5EF4-FFF2-40B4-BE49-F238E27FC236}">
                <a16:creationId xmlns:a16="http://schemas.microsoft.com/office/drawing/2014/main" id="{60E3DF37-5F25-4AE2-A941-7D67CB25D131}"/>
              </a:ext>
            </a:extLst>
          </p:cNvPr>
          <p:cNvSpPr/>
          <p:nvPr/>
        </p:nvSpPr>
        <p:spPr>
          <a:xfrm>
            <a:off x="5388826" y="10047097"/>
            <a:ext cx="1421777" cy="14496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97D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6E4DCDCA-DD98-0163-153A-86286FCF9A5A}"/>
              </a:ext>
            </a:extLst>
          </p:cNvPr>
          <p:cNvSpPr/>
          <p:nvPr/>
        </p:nvSpPr>
        <p:spPr>
          <a:xfrm>
            <a:off x="3068223" y="-422454"/>
            <a:ext cx="5124907" cy="7776864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Блок-схема: альтернативный процесс 2">
            <a:extLst>
              <a:ext uri="{FF2B5EF4-FFF2-40B4-BE49-F238E27FC236}">
                <a16:creationId xmlns:a16="http://schemas.microsoft.com/office/drawing/2014/main" id="{9ABCB142-06BE-ECEC-656E-77FFD19EED85}"/>
              </a:ext>
            </a:extLst>
          </p:cNvPr>
          <p:cNvSpPr/>
          <p:nvPr/>
        </p:nvSpPr>
        <p:spPr>
          <a:xfrm>
            <a:off x="-65206" y="-444346"/>
            <a:ext cx="5124907" cy="7776864"/>
          </a:xfrm>
          <a:prstGeom prst="flowChartAlternateProcess">
            <a:avLst/>
          </a:prstGeom>
          <a:solidFill>
            <a:srgbClr val="92D050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A8475F-CE4A-87EB-6283-AB1B27831C70}"/>
              </a:ext>
            </a:extLst>
          </p:cNvPr>
          <p:cNvSpPr/>
          <p:nvPr/>
        </p:nvSpPr>
        <p:spPr>
          <a:xfrm>
            <a:off x="551384" y="409549"/>
            <a:ext cx="11089232" cy="5899771"/>
          </a:xfrm>
          <a:prstGeom prst="rect">
            <a:avLst/>
          </a:prstGeom>
          <a:noFill/>
          <a:ln w="38100">
            <a:solidFill>
              <a:schemeClr val="accent1">
                <a:shade val="1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92F48A-45EB-469E-9683-52B56272728B}"/>
              </a:ext>
            </a:extLst>
          </p:cNvPr>
          <p:cNvSpPr txBox="1"/>
          <p:nvPr/>
        </p:nvSpPr>
        <p:spPr>
          <a:xfrm>
            <a:off x="-25747815" y="3865255"/>
            <a:ext cx="671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Сервер на базе </a:t>
            </a:r>
            <a:r>
              <a:rPr lang="ru-RU" sz="360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Mini PC GD50 </a:t>
            </a:r>
            <a:endParaRPr lang="ru-RU" sz="36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23F0194-32E5-6C1B-EEA8-839049CD3B28}"/>
              </a:ext>
            </a:extLst>
          </p:cNvPr>
          <p:cNvSpPr/>
          <p:nvPr/>
        </p:nvSpPr>
        <p:spPr>
          <a:xfrm>
            <a:off x="-12064207" y="819476"/>
            <a:ext cx="9420676" cy="125360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4A2886-D5A7-5226-74BD-F22B0553DC1E}"/>
              </a:ext>
            </a:extLst>
          </p:cNvPr>
          <p:cNvSpPr txBox="1"/>
          <p:nvPr/>
        </p:nvSpPr>
        <p:spPr>
          <a:xfrm>
            <a:off x="-11110864" y="1075965"/>
            <a:ext cx="846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Предположительные расходы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CC7C6-EE11-0ECE-D818-28C801FA18D0}"/>
              </a:ext>
            </a:extLst>
          </p:cNvPr>
          <p:cNvSpPr txBox="1"/>
          <p:nvPr/>
        </p:nvSpPr>
        <p:spPr>
          <a:xfrm>
            <a:off x="843569" y="3056973"/>
            <a:ext cx="5270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Целевая аудитория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EA7E2-576F-E934-734E-51262E8697AA}"/>
              </a:ext>
            </a:extLst>
          </p:cNvPr>
          <p:cNvSpPr txBox="1"/>
          <p:nvPr/>
        </p:nvSpPr>
        <p:spPr>
          <a:xfrm>
            <a:off x="5586217" y="1412797"/>
            <a:ext cx="2027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Люди, нашедшие животных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E69C05-B90A-0A94-5C88-F9DFF96FF9EB}"/>
              </a:ext>
            </a:extLst>
          </p:cNvPr>
          <p:cNvSpPr txBox="1"/>
          <p:nvPr/>
        </p:nvSpPr>
        <p:spPr>
          <a:xfrm>
            <a:off x="5630676" y="3599806"/>
            <a:ext cx="1851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Волонтёры и приюты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0B0D3A-8ED6-F24F-CD30-D6A5C2D8E1DF}"/>
              </a:ext>
            </a:extLst>
          </p:cNvPr>
          <p:cNvSpPr txBox="1"/>
          <p:nvPr/>
        </p:nvSpPr>
        <p:spPr>
          <a:xfrm>
            <a:off x="5613221" y="5251656"/>
            <a:ext cx="199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Владельцы потерянных животных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79F47C-4105-5E9B-9C9B-6B5CEE8007F0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817" y="2613908"/>
            <a:ext cx="852133" cy="852133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DED7C5AA-A0C3-E62C-2C5C-953D84CEAB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837" y="4247853"/>
            <a:ext cx="1040777" cy="1040777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CE3D6D9-8AF4-4D14-0C48-08BD4C660F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881" y="204286"/>
            <a:ext cx="2758688" cy="2069016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81EB2C8-3DEA-E706-442C-97DDD0102B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663" y="10377301"/>
            <a:ext cx="1180308" cy="637366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68FA305-55DE-3508-4BDE-73C3E40960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294" y="-3534630"/>
            <a:ext cx="1190171" cy="1190171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F4E3761-2085-F759-361D-C0915C7B5F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85262" y="-3609285"/>
            <a:ext cx="1045029" cy="104502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0C344CB-97B1-E47B-E28F-44E11D5EE69D}"/>
              </a:ext>
            </a:extLst>
          </p:cNvPr>
          <p:cNvSpPr txBox="1"/>
          <p:nvPr/>
        </p:nvSpPr>
        <p:spPr>
          <a:xfrm>
            <a:off x="19248867" y="9413152"/>
            <a:ext cx="32842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Телеграм-бот на который должен будет приходить уведомление о найденном похожем животном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98A926-CDDD-A619-D272-7C5713E3E808}"/>
              </a:ext>
            </a:extLst>
          </p:cNvPr>
          <p:cNvSpPr txBox="1"/>
          <p:nvPr/>
        </p:nvSpPr>
        <p:spPr>
          <a:xfrm>
            <a:off x="-7792895" y="8905321"/>
            <a:ext cx="27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Сам сайт с пропавшими и найденными животными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38F7E0-A848-9F82-95F2-24570F2B5F6C}"/>
              </a:ext>
            </a:extLst>
          </p:cNvPr>
          <p:cNvSpPr txBox="1"/>
          <p:nvPr/>
        </p:nvSpPr>
        <p:spPr>
          <a:xfrm>
            <a:off x="4497280" y="12695379"/>
            <a:ext cx="3028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Обученная модель алгоритма для сравнения фотографий и нахождение похожего животного</a:t>
            </a:r>
          </a:p>
        </p:txBody>
      </p:sp>
    </p:spTree>
    <p:extLst>
      <p:ext uri="{BB962C8B-B14F-4D97-AF65-F5344CB8AC3E}">
        <p14:creationId xmlns:p14="http://schemas.microsoft.com/office/powerpoint/2010/main" val="296186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B7645CE9-A65A-AB26-0FB6-C9A5EA1303CD}"/>
              </a:ext>
            </a:extLst>
          </p:cNvPr>
          <p:cNvSpPr txBox="1"/>
          <p:nvPr/>
        </p:nvSpPr>
        <p:spPr>
          <a:xfrm>
            <a:off x="4795980" y="2196164"/>
            <a:ext cx="76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₽</a:t>
            </a:r>
            <a:endParaRPr lang="ru-RU" sz="8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9E3ED2-9B9A-1781-A474-61240F809960}"/>
              </a:ext>
            </a:extLst>
          </p:cNvPr>
          <p:cNvSpPr txBox="1"/>
          <p:nvPr/>
        </p:nvSpPr>
        <p:spPr>
          <a:xfrm>
            <a:off x="957417" y="2252998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FC53A0-E589-3EC8-42D9-55AE166257CD}"/>
              </a:ext>
            </a:extLst>
          </p:cNvPr>
          <p:cNvSpPr txBox="1"/>
          <p:nvPr/>
        </p:nvSpPr>
        <p:spPr>
          <a:xfrm>
            <a:off x="1641373" y="-13088997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809328-C3F0-3DDD-EE7A-0C9804AB9B01}"/>
              </a:ext>
            </a:extLst>
          </p:cNvPr>
          <p:cNvSpPr txBox="1"/>
          <p:nvPr/>
        </p:nvSpPr>
        <p:spPr>
          <a:xfrm>
            <a:off x="3134360" y="-13107059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40C8B5-F1BB-FC2F-6554-07922A63A155}"/>
              </a:ext>
            </a:extLst>
          </p:cNvPr>
          <p:cNvSpPr txBox="1"/>
          <p:nvPr/>
        </p:nvSpPr>
        <p:spPr>
          <a:xfrm>
            <a:off x="2389675" y="2252997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A255BD-5345-2152-5765-078E1E132E02}"/>
              </a:ext>
            </a:extLst>
          </p:cNvPr>
          <p:cNvSpPr txBox="1"/>
          <p:nvPr/>
        </p:nvSpPr>
        <p:spPr>
          <a:xfrm>
            <a:off x="3883583" y="2233948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14" name="Блок-схема: альтернативный процесс 13">
            <a:extLst>
              <a:ext uri="{FF2B5EF4-FFF2-40B4-BE49-F238E27FC236}">
                <a16:creationId xmlns:a16="http://schemas.microsoft.com/office/drawing/2014/main" id="{40D8E6D7-7298-CD50-158C-BE83EC28E5A6}"/>
              </a:ext>
            </a:extLst>
          </p:cNvPr>
          <p:cNvSpPr/>
          <p:nvPr/>
        </p:nvSpPr>
        <p:spPr>
          <a:xfrm>
            <a:off x="-6018769" y="-459432"/>
            <a:ext cx="5124907" cy="7776864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6DC3CE-9A11-4F58-AE8B-DC929F23AD64}"/>
              </a:ext>
            </a:extLst>
          </p:cNvPr>
          <p:cNvSpPr txBox="1"/>
          <p:nvPr/>
        </p:nvSpPr>
        <p:spPr>
          <a:xfrm>
            <a:off x="4688114" y="-11046958"/>
            <a:ext cx="349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</a:rPr>
              <a:t>Партнёры</a:t>
            </a:r>
          </a:p>
        </p:txBody>
      </p:sp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9439B084-495D-D627-331F-DA7A4F40CA81}"/>
              </a:ext>
            </a:extLst>
          </p:cNvPr>
          <p:cNvSpPr/>
          <p:nvPr/>
        </p:nvSpPr>
        <p:spPr>
          <a:xfrm>
            <a:off x="-11472795" y="-459432"/>
            <a:ext cx="5124907" cy="7776864"/>
          </a:xfrm>
          <a:prstGeom prst="flowChartAlternateProcess">
            <a:avLst/>
          </a:prstGeom>
          <a:solidFill>
            <a:srgbClr val="32CED6"/>
          </a:solidFill>
          <a:ln>
            <a:solidFill>
              <a:srgbClr val="B0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4F4DD-ACAD-885D-60FF-249170BD6AAD}"/>
              </a:ext>
            </a:extLst>
          </p:cNvPr>
          <p:cNvSpPr txBox="1"/>
          <p:nvPr/>
        </p:nvSpPr>
        <p:spPr>
          <a:xfrm>
            <a:off x="-8941696" y="1890733"/>
            <a:ext cx="1974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Госсектор</a:t>
            </a:r>
            <a:endParaRPr lang="ru-RU" sz="2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5A7CA-1B73-220A-BA9A-A25CA2203483}"/>
              </a:ext>
            </a:extLst>
          </p:cNvPr>
          <p:cNvSpPr txBox="1"/>
          <p:nvPr/>
        </p:nvSpPr>
        <p:spPr>
          <a:xfrm>
            <a:off x="-8419224" y="4151172"/>
            <a:ext cx="714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ИТ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8ED6B3-D6FC-DF9F-45CA-C23B65F96AA6}"/>
              </a:ext>
            </a:extLst>
          </p:cNvPr>
          <p:cNvSpPr txBox="1"/>
          <p:nvPr/>
        </p:nvSpPr>
        <p:spPr>
          <a:xfrm>
            <a:off x="-8941696" y="5702561"/>
            <a:ext cx="186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Образование</a:t>
            </a:r>
            <a:endParaRPr lang="ru-RU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9040BD0-A7E1-8790-34BE-0C1BA9DFBB9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6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9010" y="378084"/>
            <a:ext cx="1874914" cy="187491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24CEE9D-54FB-B4B7-3C21-EC5F9A30061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5820" y="2908371"/>
            <a:ext cx="1041208" cy="104120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472C1AE-8E8B-E700-3BDF-E215A389FD0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1317" y="4621510"/>
            <a:ext cx="1039528" cy="1039528"/>
          </a:xfrm>
          <a:prstGeom prst="rect">
            <a:avLst/>
          </a:prstGeom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662F6464-044F-4BFE-3CD4-949BB0690CC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360EDD2F-2239-4F83-77E7-2FA8DF8627D5}"/>
              </a:ext>
            </a:extLst>
          </p:cNvPr>
          <p:cNvSpPr/>
          <p:nvPr/>
        </p:nvSpPr>
        <p:spPr>
          <a:xfrm>
            <a:off x="0" y="1"/>
            <a:ext cx="12192000" cy="22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6F5965-844A-5B58-2FD3-941D2CE48E04}"/>
              </a:ext>
            </a:extLst>
          </p:cNvPr>
          <p:cNvSpPr txBox="1"/>
          <p:nvPr/>
        </p:nvSpPr>
        <p:spPr>
          <a:xfrm>
            <a:off x="2120838" y="2308206"/>
            <a:ext cx="417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dirty="0"/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F382E2-92BB-721E-3D83-BBEC2A85099C}"/>
              </a:ext>
            </a:extLst>
          </p:cNvPr>
          <p:cNvSpPr txBox="1"/>
          <p:nvPr/>
        </p:nvSpPr>
        <p:spPr>
          <a:xfrm>
            <a:off x="800100" y="3888106"/>
            <a:ext cx="671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Сервер на базе </a:t>
            </a:r>
            <a:r>
              <a:rPr lang="ru-RU" sz="360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Mini PC GD50 </a:t>
            </a:r>
            <a:endParaRPr lang="ru-RU" sz="36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B26CBA-65D6-221E-5920-A6678038DFC3}"/>
              </a:ext>
            </a:extLst>
          </p:cNvPr>
          <p:cNvSpPr txBox="1"/>
          <p:nvPr/>
        </p:nvSpPr>
        <p:spPr>
          <a:xfrm>
            <a:off x="-17148352" y="393863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Обслуживание(в счет входит обновления и коммунальные услуги)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110814F-BB43-4E85-A076-29F20A4AAD0C}"/>
              </a:ext>
            </a:extLst>
          </p:cNvPr>
          <p:cNvSpPr/>
          <p:nvPr/>
        </p:nvSpPr>
        <p:spPr>
          <a:xfrm>
            <a:off x="-678445" y="819476"/>
            <a:ext cx="9420676" cy="125360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1C3FA-B2B0-DF26-9415-F6AB64FF7146}"/>
              </a:ext>
            </a:extLst>
          </p:cNvPr>
          <p:cNvSpPr txBox="1"/>
          <p:nvPr/>
        </p:nvSpPr>
        <p:spPr>
          <a:xfrm>
            <a:off x="274898" y="1075965"/>
            <a:ext cx="846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Предположительные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191663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55C4-FCD5-59DD-5816-210FD967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B28FF0DD-0793-A11C-64E3-2AB9998A2A1F}"/>
              </a:ext>
            </a:extLst>
          </p:cNvPr>
          <p:cNvSpPr txBox="1"/>
          <p:nvPr/>
        </p:nvSpPr>
        <p:spPr>
          <a:xfrm>
            <a:off x="3957780" y="2196164"/>
            <a:ext cx="76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₽</a:t>
            </a:r>
            <a:endParaRPr lang="ru-RU" sz="8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F18806-D482-0FD8-323C-A83F11EBC14B}"/>
              </a:ext>
            </a:extLst>
          </p:cNvPr>
          <p:cNvSpPr txBox="1"/>
          <p:nvPr/>
        </p:nvSpPr>
        <p:spPr>
          <a:xfrm>
            <a:off x="957417" y="-1306320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C29BA0-DF73-371A-13BE-5AE8A2DB44EB}"/>
              </a:ext>
            </a:extLst>
          </p:cNvPr>
          <p:cNvSpPr txBox="1"/>
          <p:nvPr/>
        </p:nvSpPr>
        <p:spPr>
          <a:xfrm>
            <a:off x="1641373" y="2284353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DEC29C-E43A-BFE7-6B7E-578972FB43D7}"/>
              </a:ext>
            </a:extLst>
          </p:cNvPr>
          <p:cNvSpPr txBox="1"/>
          <p:nvPr/>
        </p:nvSpPr>
        <p:spPr>
          <a:xfrm>
            <a:off x="3134360" y="2289877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AED316-6809-0AC8-954D-7AB593593B54}"/>
              </a:ext>
            </a:extLst>
          </p:cNvPr>
          <p:cNvSpPr txBox="1"/>
          <p:nvPr/>
        </p:nvSpPr>
        <p:spPr>
          <a:xfrm>
            <a:off x="2375161" y="-13072275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90BE4D-26B3-32C3-C200-05DCE7F4A9D3}"/>
              </a:ext>
            </a:extLst>
          </p:cNvPr>
          <p:cNvSpPr txBox="1"/>
          <p:nvPr/>
        </p:nvSpPr>
        <p:spPr>
          <a:xfrm>
            <a:off x="3883583" y="-1673985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0DEB1-2FF7-96AA-E340-94678A63351E}"/>
              </a:ext>
            </a:extLst>
          </p:cNvPr>
          <p:cNvSpPr txBox="1"/>
          <p:nvPr/>
        </p:nvSpPr>
        <p:spPr>
          <a:xfrm>
            <a:off x="-8941696" y="1890733"/>
            <a:ext cx="1974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Госсектор</a:t>
            </a:r>
            <a:endParaRPr lang="ru-RU" sz="2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009C411D-9971-CD59-95A1-F47F5B3E861F}"/>
              </a:ext>
            </a:extLst>
          </p:cNvPr>
          <p:cNvSpPr/>
          <p:nvPr/>
        </p:nvSpPr>
        <p:spPr>
          <a:xfrm>
            <a:off x="0" y="3488292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19E87EE-6C97-1229-9956-75D661FD9E80}"/>
              </a:ext>
            </a:extLst>
          </p:cNvPr>
          <p:cNvSpPr/>
          <p:nvPr/>
        </p:nvSpPr>
        <p:spPr>
          <a:xfrm>
            <a:off x="0" y="-29496"/>
            <a:ext cx="12192000" cy="22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B5E15-E4BB-2306-45BA-7DBE4445CC73}"/>
              </a:ext>
            </a:extLst>
          </p:cNvPr>
          <p:cNvSpPr txBox="1"/>
          <p:nvPr/>
        </p:nvSpPr>
        <p:spPr>
          <a:xfrm>
            <a:off x="13868400" y="3888106"/>
            <a:ext cx="671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Сервер на базе </a:t>
            </a:r>
            <a:r>
              <a:rPr lang="ru-RU" sz="360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Mini PC GD50 </a:t>
            </a:r>
            <a:endParaRPr lang="ru-RU" sz="36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92D1AC-0744-A29F-26DA-DBE67BDB878B}"/>
              </a:ext>
            </a:extLst>
          </p:cNvPr>
          <p:cNvSpPr txBox="1"/>
          <p:nvPr/>
        </p:nvSpPr>
        <p:spPr>
          <a:xfrm>
            <a:off x="312349" y="409829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Обслуживание(в счет входит обновления и коммунальные услуги)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AC46D-9430-A3CC-E5A5-329954DDD30A}"/>
              </a:ext>
            </a:extLst>
          </p:cNvPr>
          <p:cNvSpPr txBox="1"/>
          <p:nvPr/>
        </p:nvSpPr>
        <p:spPr>
          <a:xfrm>
            <a:off x="1443178" y="2505645"/>
            <a:ext cx="534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.</a:t>
            </a:r>
          </a:p>
        </p:txBody>
      </p:sp>
      <p:sp>
        <p:nvSpPr>
          <p:cNvPr id="8" name="Прямоугольник: один усеченный угол 7">
            <a:extLst>
              <a:ext uri="{FF2B5EF4-FFF2-40B4-BE49-F238E27FC236}">
                <a16:creationId xmlns:a16="http://schemas.microsoft.com/office/drawing/2014/main" id="{7A60E955-D35F-4E0A-34D1-5F09EA39AF23}"/>
              </a:ext>
            </a:extLst>
          </p:cNvPr>
          <p:cNvSpPr/>
          <p:nvPr/>
        </p:nvSpPr>
        <p:spPr>
          <a:xfrm flipV="1">
            <a:off x="-14935201" y="0"/>
            <a:ext cx="7448551" cy="1409700"/>
          </a:xfrm>
          <a:prstGeom prst="snip1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9B246-F057-A701-EAAF-D8191FB69AB6}"/>
              </a:ext>
            </a:extLst>
          </p:cNvPr>
          <p:cNvSpPr txBox="1"/>
          <p:nvPr/>
        </p:nvSpPr>
        <p:spPr>
          <a:xfrm>
            <a:off x="-13972540" y="192398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Команда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6850381-5299-C910-DD85-2774EA7C003E}"/>
              </a:ext>
            </a:extLst>
          </p:cNvPr>
          <p:cNvSpPr/>
          <p:nvPr/>
        </p:nvSpPr>
        <p:spPr>
          <a:xfrm>
            <a:off x="-678445" y="819476"/>
            <a:ext cx="9420676" cy="125360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8AD5F-723B-C21E-0EDF-6ADEEBF21BD2}"/>
              </a:ext>
            </a:extLst>
          </p:cNvPr>
          <p:cNvSpPr txBox="1"/>
          <p:nvPr/>
        </p:nvSpPr>
        <p:spPr>
          <a:xfrm>
            <a:off x="274898" y="1075965"/>
            <a:ext cx="846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Предположительные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3169561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881C-073A-3E47-3B2E-DDE2C132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433F2AA-4E5A-80E5-5370-2AE8CF58BE98}"/>
              </a:ext>
            </a:extLst>
          </p:cNvPr>
          <p:cNvSpPr txBox="1"/>
          <p:nvPr/>
        </p:nvSpPr>
        <p:spPr>
          <a:xfrm>
            <a:off x="-10347427" y="2284353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433902-6916-A066-3829-6DD3A3209381}"/>
              </a:ext>
            </a:extLst>
          </p:cNvPr>
          <p:cNvSpPr txBox="1"/>
          <p:nvPr/>
        </p:nvSpPr>
        <p:spPr>
          <a:xfrm>
            <a:off x="-8854440" y="2289877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EAEC03-654B-40ED-4C3D-8B28632B6324}"/>
              </a:ext>
            </a:extLst>
          </p:cNvPr>
          <p:cNvSpPr txBox="1"/>
          <p:nvPr/>
        </p:nvSpPr>
        <p:spPr>
          <a:xfrm>
            <a:off x="-10545622" y="2505645"/>
            <a:ext cx="534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E7A13AA-1583-E0AA-CAF0-54DCB44CF0CF}"/>
              </a:ext>
            </a:extLst>
          </p:cNvPr>
          <p:cNvSpPr/>
          <p:nvPr/>
        </p:nvSpPr>
        <p:spPr>
          <a:xfrm>
            <a:off x="-15621000" y="3399801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50856-0771-2BD0-8EB7-8C17982730EA}"/>
              </a:ext>
            </a:extLst>
          </p:cNvPr>
          <p:cNvSpPr txBox="1"/>
          <p:nvPr/>
        </p:nvSpPr>
        <p:spPr>
          <a:xfrm>
            <a:off x="-14849009" y="409829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Обслуживание(в счет входит обновления и коммунальные услуги)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C059D-D6E9-CA6E-82FA-9A36D752AB03}"/>
              </a:ext>
            </a:extLst>
          </p:cNvPr>
          <p:cNvSpPr txBox="1"/>
          <p:nvPr/>
        </p:nvSpPr>
        <p:spPr>
          <a:xfrm>
            <a:off x="-8031020" y="2196164"/>
            <a:ext cx="76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0" i="0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₽</a:t>
            </a:r>
            <a:endParaRPr lang="ru-RU" sz="8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338FC-5050-2A7A-328A-4C73DAA577E8}"/>
              </a:ext>
            </a:extLst>
          </p:cNvPr>
          <p:cNvSpPr txBox="1"/>
          <p:nvPr/>
        </p:nvSpPr>
        <p:spPr>
          <a:xfrm>
            <a:off x="-11031383" y="-1306320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6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EC8463-16FF-7951-3B67-966658CB04C6}"/>
              </a:ext>
            </a:extLst>
          </p:cNvPr>
          <p:cNvSpPr txBox="1"/>
          <p:nvPr/>
        </p:nvSpPr>
        <p:spPr>
          <a:xfrm>
            <a:off x="-9613639" y="-13072275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D54ED4-B3BA-EFA3-E760-04508F6465E5}"/>
              </a:ext>
            </a:extLst>
          </p:cNvPr>
          <p:cNvSpPr txBox="1"/>
          <p:nvPr/>
        </p:nvSpPr>
        <p:spPr>
          <a:xfrm>
            <a:off x="-8105217" y="-16739852"/>
            <a:ext cx="762000" cy="1671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8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0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9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5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7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</a:t>
            </a:r>
          </a:p>
          <a:p>
            <a:pPr algn="ctr"/>
            <a:r>
              <a:rPr lang="ru-RU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833A940-6395-742A-4B3D-9C5968FC1E53}"/>
              </a:ext>
            </a:extLst>
          </p:cNvPr>
          <p:cNvSpPr/>
          <p:nvPr/>
        </p:nvSpPr>
        <p:spPr>
          <a:xfrm>
            <a:off x="-15487650" y="1"/>
            <a:ext cx="12192000" cy="22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один усеченный угол 2">
            <a:extLst>
              <a:ext uri="{FF2B5EF4-FFF2-40B4-BE49-F238E27FC236}">
                <a16:creationId xmlns:a16="http://schemas.microsoft.com/office/drawing/2014/main" id="{98E91318-8AC6-9127-6465-9FC3C45A6C4D}"/>
              </a:ext>
            </a:extLst>
          </p:cNvPr>
          <p:cNvSpPr/>
          <p:nvPr/>
        </p:nvSpPr>
        <p:spPr>
          <a:xfrm flipV="1">
            <a:off x="-723901" y="0"/>
            <a:ext cx="7448551" cy="1409700"/>
          </a:xfrm>
          <a:prstGeom prst="snip1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7C2B5D-44FD-99CF-7647-4F3724C167D1}"/>
              </a:ext>
            </a:extLst>
          </p:cNvPr>
          <p:cNvSpPr txBox="1"/>
          <p:nvPr/>
        </p:nvSpPr>
        <p:spPr>
          <a:xfrm>
            <a:off x="238760" y="192398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Команда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D8E98D0-4617-74B5-F377-52C809FE9865}"/>
              </a:ext>
            </a:extLst>
          </p:cNvPr>
          <p:cNvSpPr/>
          <p:nvPr/>
        </p:nvSpPr>
        <p:spPr>
          <a:xfrm>
            <a:off x="15364075" y="1153545"/>
            <a:ext cx="10609943" cy="83401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FE4AD-B98E-FCBF-F318-17A8C2CB6443}"/>
              </a:ext>
            </a:extLst>
          </p:cNvPr>
          <p:cNvSpPr txBox="1"/>
          <p:nvPr/>
        </p:nvSpPr>
        <p:spPr>
          <a:xfrm>
            <a:off x="15443408" y="1202127"/>
            <a:ext cx="7867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Спасибо за внимание!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083A85C-C02A-5F7F-1017-F14B794CD313}"/>
              </a:ext>
            </a:extLst>
          </p:cNvPr>
          <p:cNvSpPr/>
          <p:nvPr/>
        </p:nvSpPr>
        <p:spPr>
          <a:xfrm>
            <a:off x="23583349" y="2390354"/>
            <a:ext cx="8516372" cy="100404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C663F-522E-A970-55C8-432FB7B8CDEC}"/>
              </a:ext>
            </a:extLst>
          </p:cNvPr>
          <p:cNvSpPr txBox="1"/>
          <p:nvPr/>
        </p:nvSpPr>
        <p:spPr>
          <a:xfrm>
            <a:off x="23647629" y="2544128"/>
            <a:ext cx="7225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Готовы ответить на вопросы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D8BD528F-7A69-45F7-DDF3-28277DCD7B26}"/>
              </a:ext>
            </a:extLst>
          </p:cNvPr>
          <p:cNvSpPr/>
          <p:nvPr/>
        </p:nvSpPr>
        <p:spPr>
          <a:xfrm>
            <a:off x="-14453448" y="819476"/>
            <a:ext cx="9420676" cy="125360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8BBEF-C68E-AD0E-4113-E3B433C775FC}"/>
              </a:ext>
            </a:extLst>
          </p:cNvPr>
          <p:cNvSpPr txBox="1"/>
          <p:nvPr/>
        </p:nvSpPr>
        <p:spPr>
          <a:xfrm>
            <a:off x="-13500105" y="1075965"/>
            <a:ext cx="846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Предположительные расходы</a:t>
            </a:r>
          </a:p>
        </p:txBody>
      </p:sp>
      <p:sp>
        <p:nvSpPr>
          <p:cNvPr id="37" name="Прямоугольный треугольник 36">
            <a:extLst>
              <a:ext uri="{FF2B5EF4-FFF2-40B4-BE49-F238E27FC236}">
                <a16:creationId xmlns:a16="http://schemas.microsoft.com/office/drawing/2014/main" id="{6363C1FE-CE21-490C-9062-C6F150E0A511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7948125" y="-1232249"/>
            <a:ext cx="4320000" cy="4320000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ый треугольник 37">
            <a:extLst>
              <a:ext uri="{FF2B5EF4-FFF2-40B4-BE49-F238E27FC236}">
                <a16:creationId xmlns:a16="http://schemas.microsoft.com/office/drawing/2014/main" id="{3C24A704-5E35-4A70-8E9C-3F2E6BFB1910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0801403" y="-840449"/>
            <a:ext cx="3400237" cy="3400237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ый треугольник 39">
            <a:extLst>
              <a:ext uri="{FF2B5EF4-FFF2-40B4-BE49-F238E27FC236}">
                <a16:creationId xmlns:a16="http://schemas.microsoft.com/office/drawing/2014/main" id="{9AD94B4A-9DC8-483A-B5C2-443F56FAB47A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4865781" y="-336157"/>
            <a:ext cx="2824243" cy="2824243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ый треугольник 40">
            <a:extLst>
              <a:ext uri="{FF2B5EF4-FFF2-40B4-BE49-F238E27FC236}">
                <a16:creationId xmlns:a16="http://schemas.microsoft.com/office/drawing/2014/main" id="{BB99FF2C-8EAD-45DB-8467-6283326D96FE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8149470" y="-85907"/>
            <a:ext cx="2027316" cy="202731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ый треугольник 41">
            <a:extLst>
              <a:ext uri="{FF2B5EF4-FFF2-40B4-BE49-F238E27FC236}">
                <a16:creationId xmlns:a16="http://schemas.microsoft.com/office/drawing/2014/main" id="{DE9F2D19-289A-49B4-91DD-4EDC3FC4ACDB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22556411" y="333751"/>
            <a:ext cx="1611500" cy="1611500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BEC678D-FF13-47F8-A578-54671CE9B334}"/>
              </a:ext>
            </a:extLst>
          </p:cNvPr>
          <p:cNvSpPr/>
          <p:nvPr/>
        </p:nvSpPr>
        <p:spPr>
          <a:xfrm rot="2837663">
            <a:off x="13445868" y="7912625"/>
            <a:ext cx="2900553" cy="54557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C415B939-5216-4AD7-88E8-515D57AADEFD}"/>
              </a:ext>
            </a:extLst>
          </p:cNvPr>
          <p:cNvSpPr/>
          <p:nvPr/>
        </p:nvSpPr>
        <p:spPr>
          <a:xfrm rot="2837663">
            <a:off x="16230583" y="10828481"/>
            <a:ext cx="2900553" cy="54557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D158A93-F859-45B7-B832-4350A1B02BCB}"/>
              </a:ext>
            </a:extLst>
          </p:cNvPr>
          <p:cNvSpPr/>
          <p:nvPr/>
        </p:nvSpPr>
        <p:spPr>
          <a:xfrm rot="2837663">
            <a:off x="19908243" y="14572906"/>
            <a:ext cx="2900553" cy="54557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4E950628-721F-4009-8BAB-1C25C92DB783}"/>
              </a:ext>
            </a:extLst>
          </p:cNvPr>
          <p:cNvSpPr/>
          <p:nvPr/>
        </p:nvSpPr>
        <p:spPr>
          <a:xfrm rot="2837663">
            <a:off x="22324930" y="17692705"/>
            <a:ext cx="2900553" cy="54557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25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4D7B7C1-44A3-3DE3-2E22-33BEA9DB52DC}"/>
              </a:ext>
            </a:extLst>
          </p:cNvPr>
          <p:cNvSpPr/>
          <p:nvPr/>
        </p:nvSpPr>
        <p:spPr>
          <a:xfrm>
            <a:off x="3057775" y="1153545"/>
            <a:ext cx="10609943" cy="83401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ый треугольник 8">
            <a:extLst>
              <a:ext uri="{FF2B5EF4-FFF2-40B4-BE49-F238E27FC236}">
                <a16:creationId xmlns:a16="http://schemas.microsoft.com/office/drawing/2014/main" id="{48BF6EA7-1FD5-41C3-950A-0D6344027262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2156925" y="-1194149"/>
            <a:ext cx="4320000" cy="4320000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D80591FB-203F-4F5E-845D-BA1DF225B030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697044" y="-740924"/>
            <a:ext cx="3400237" cy="3400237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2ABF58D2-64CE-4F27-B34B-59E955E955EF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409049" y="-446270"/>
            <a:ext cx="2824243" cy="2824243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6466DEB1-8A51-4F2A-9D7F-9D58DCD6F1E0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1006816" y="-56833"/>
            <a:ext cx="2027316" cy="202731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0F63587B-77B9-4180-904E-495C95004F35}"/>
              </a:ext>
            </a:extLst>
          </p:cNvPr>
          <p:cNvSpPr>
            <a:spLocks noChangeAspect="1"/>
          </p:cNvSpPr>
          <p:nvPr/>
        </p:nvSpPr>
        <p:spPr>
          <a:xfrm rot="2698167" flipH="1" flipV="1">
            <a:off x="-802677" y="143687"/>
            <a:ext cx="1611500" cy="1611500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8F6D6CD-212B-4BED-8905-FCD394F71791}"/>
              </a:ext>
            </a:extLst>
          </p:cNvPr>
          <p:cNvSpPr/>
          <p:nvPr/>
        </p:nvSpPr>
        <p:spPr>
          <a:xfrm rot="2837663">
            <a:off x="10151645" y="3799089"/>
            <a:ext cx="2900553" cy="54557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329DB44-9B60-490E-AB7F-A62342FD0EB9}"/>
              </a:ext>
            </a:extLst>
          </p:cNvPr>
          <p:cNvSpPr/>
          <p:nvPr/>
        </p:nvSpPr>
        <p:spPr>
          <a:xfrm rot="2837663">
            <a:off x="10481846" y="4099594"/>
            <a:ext cx="2900553" cy="54557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7C5AFD-9C16-4B58-820D-05FAA4EC7FE4}"/>
              </a:ext>
            </a:extLst>
          </p:cNvPr>
          <p:cNvSpPr/>
          <p:nvPr/>
        </p:nvSpPr>
        <p:spPr>
          <a:xfrm rot="2837663">
            <a:off x="10783020" y="4400099"/>
            <a:ext cx="2900553" cy="54557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0F085BF-9EEA-41A3-BCA6-CC3F434EC2FC}"/>
              </a:ext>
            </a:extLst>
          </p:cNvPr>
          <p:cNvSpPr/>
          <p:nvPr/>
        </p:nvSpPr>
        <p:spPr>
          <a:xfrm rot="2837663">
            <a:off x="11087446" y="4700604"/>
            <a:ext cx="2900553" cy="54557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15E2B-7050-27E8-4A01-87E3A3E458AF}"/>
              </a:ext>
            </a:extLst>
          </p:cNvPr>
          <p:cNvSpPr txBox="1"/>
          <p:nvPr/>
        </p:nvSpPr>
        <p:spPr>
          <a:xfrm>
            <a:off x="3137108" y="1202127"/>
            <a:ext cx="7867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Спасибо за внимание!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6D25048-E847-6C87-917E-B224C6B0FB01}"/>
              </a:ext>
            </a:extLst>
          </p:cNvPr>
          <p:cNvSpPr/>
          <p:nvPr/>
        </p:nvSpPr>
        <p:spPr>
          <a:xfrm>
            <a:off x="4685749" y="2390354"/>
            <a:ext cx="8516372" cy="100404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6E8BAA-07A0-F1FA-384F-B3552DF028A2}"/>
              </a:ext>
            </a:extLst>
          </p:cNvPr>
          <p:cNvSpPr txBox="1"/>
          <p:nvPr/>
        </p:nvSpPr>
        <p:spPr>
          <a:xfrm>
            <a:off x="4750029" y="2544128"/>
            <a:ext cx="7225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Готовы ответить на вопросы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F95766-C3EF-2210-7772-E4B7F8024941}"/>
              </a:ext>
            </a:extLst>
          </p:cNvPr>
          <p:cNvSpPr/>
          <p:nvPr/>
        </p:nvSpPr>
        <p:spPr>
          <a:xfrm>
            <a:off x="-21297900" y="7781301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816C64-27F6-A548-697E-305DBC0AF571}"/>
              </a:ext>
            </a:extLst>
          </p:cNvPr>
          <p:cNvSpPr/>
          <p:nvPr/>
        </p:nvSpPr>
        <p:spPr>
          <a:xfrm>
            <a:off x="-35737072" y="-404068"/>
            <a:ext cx="12192000" cy="22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один усеченный угол 22">
            <a:extLst>
              <a:ext uri="{FF2B5EF4-FFF2-40B4-BE49-F238E27FC236}">
                <a16:creationId xmlns:a16="http://schemas.microsoft.com/office/drawing/2014/main" id="{81062FFF-59DC-5EAD-7DC8-080F162E7991}"/>
              </a:ext>
            </a:extLst>
          </p:cNvPr>
          <p:cNvSpPr/>
          <p:nvPr/>
        </p:nvSpPr>
        <p:spPr>
          <a:xfrm flipV="1">
            <a:off x="13449299" y="0"/>
            <a:ext cx="7448551" cy="1409700"/>
          </a:xfrm>
          <a:prstGeom prst="snip1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97D0A-026B-42A7-BD81-C7DAB2015140}"/>
              </a:ext>
            </a:extLst>
          </p:cNvPr>
          <p:cNvSpPr txBox="1"/>
          <p:nvPr/>
        </p:nvSpPr>
        <p:spPr>
          <a:xfrm>
            <a:off x="14386053" y="224627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Команда</a:t>
            </a:r>
          </a:p>
        </p:txBody>
      </p:sp>
    </p:spTree>
    <p:extLst>
      <p:ext uri="{BB962C8B-B14F-4D97-AF65-F5344CB8AC3E}">
        <p14:creationId xmlns:p14="http://schemas.microsoft.com/office/powerpoint/2010/main" val="540351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713</Words>
  <Application>Microsoft Office PowerPoint</Application>
  <PresentationFormat>Широкоэкранный</PresentationFormat>
  <Paragraphs>402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airwar31 черноклинов</dc:creator>
  <cp:lastModifiedBy>airwar31 черноклинов</cp:lastModifiedBy>
  <cp:revision>9</cp:revision>
  <dcterms:created xsi:type="dcterms:W3CDTF">2025-04-22T07:39:01Z</dcterms:created>
  <dcterms:modified xsi:type="dcterms:W3CDTF">2025-04-23T13:24:48Z</dcterms:modified>
</cp:coreProperties>
</file>